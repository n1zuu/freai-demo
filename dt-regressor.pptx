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260" r:id="rId5"/>
    <p:sldId id="257" r:id="rId6"/>
    <p:sldId id="261" r:id="rId7"/>
    <p:sldId id="267" r:id="rId8"/>
    <p:sldId id="266" r:id="rId9"/>
    <p:sldId id="268" r:id="rId10"/>
    <p:sldId id="262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enorite" panose="00000500000000000000" pitchFamily="2" charset="0"/>
              </a:rPr>
              <a:t>Decision Tree Regressor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Tenorite" panose="00000500000000000000" pitchFamily="2" charset="0"/>
              </a:rPr>
              <a:t>Overview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>
              <a:latin typeface="Tenorite" panose="00000500000000000000" pitchFamily="2" charset="0"/>
            </a:endParaRPr>
          </a:p>
          <a:p>
            <a:pPr marL="0" indent="0">
              <a:buNone/>
            </a:pPr>
            <a:endParaRPr lang="en-US" sz="2000" dirty="0">
              <a:latin typeface="Tenorite" panose="00000500000000000000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Tenorite" panose="00000500000000000000" pitchFamily="2" charset="0"/>
              </a:rPr>
              <a:t>Decision Tree Regressor is a supervised machine learning algorithm that uses a hierarchical, tree-like structure to predict </a:t>
            </a:r>
            <a:r>
              <a:rPr lang="en-US" sz="2000" u="sng" dirty="0">
                <a:latin typeface="Tenorite" panose="00000500000000000000" pitchFamily="2" charset="0"/>
              </a:rPr>
              <a:t>continuous numerical values</a:t>
            </a:r>
            <a:r>
              <a:rPr lang="en-US" sz="2000" dirty="0">
                <a:latin typeface="Tenorite" panose="000005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en-US" sz="2000" dirty="0"/>
              <a:t>It splits the data into segments based on feature values, forming a tree structure.  </a:t>
            </a:r>
          </a:p>
          <a:p>
            <a:pPr marL="0" indent="0">
              <a:buNone/>
            </a:pPr>
            <a:r>
              <a:rPr lang="en-US" sz="2000" dirty="0"/>
              <a:t>Each leaf node contains a </a:t>
            </a:r>
            <a:r>
              <a:rPr lang="en-US" sz="2000" b="1" dirty="0"/>
              <a:t>predicted numeric value</a:t>
            </a:r>
            <a:r>
              <a:rPr lang="en-US" sz="2000" dirty="0"/>
              <a:t>, usually the </a:t>
            </a:r>
            <a:r>
              <a:rPr lang="en-US" sz="2000" b="1" dirty="0"/>
              <a:t>mean</a:t>
            </a:r>
            <a:r>
              <a:rPr lang="en-US" sz="2000" dirty="0"/>
              <a:t> of the target values in that leaf.</a:t>
            </a:r>
          </a:p>
          <a:p>
            <a:pPr marL="0" indent="0">
              <a:buNone/>
            </a:pPr>
            <a:r>
              <a:rPr lang="en-US" sz="2000" dirty="0"/>
              <a:t>It works by repeatedly picking the “best” feature and threshold to split the dataset so the resulting groups have the lowest variance.</a:t>
            </a:r>
            <a:endParaRPr lang="en-US" sz="2000" dirty="0">
              <a:latin typeface="Tenorite" panose="00000500000000000000" pitchFamily="2" charset="0"/>
            </a:endParaRPr>
          </a:p>
          <a:p>
            <a:endParaRPr lang="en-US" sz="2000" dirty="0">
              <a:latin typeface="Tenorite" panose="00000500000000000000" pitchFamily="2" charset="0"/>
            </a:endParaRPr>
          </a:p>
          <a:p>
            <a:endParaRPr lang="en-US" sz="2000" dirty="0">
              <a:latin typeface="Tenorit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D89A8-A137-2A56-6B8A-8DC78F63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PH" dirty="0">
                <a:solidFill>
                  <a:srgbClr val="FFFFFF"/>
                </a:solidFill>
                <a:latin typeface="Tenorite" panose="00000500000000000000" pitchFamily="2" charset="0"/>
              </a:rPr>
              <a:t>Difference vs. DT Classifiers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6A72C7-C024-BB85-4677-4DF9CA54EC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97186"/>
              </p:ext>
            </p:extLst>
          </p:nvPr>
        </p:nvGraphicFramePr>
        <p:xfrm>
          <a:off x="4573201" y="2068453"/>
          <a:ext cx="7150097" cy="326078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{073A0DAA-6AF3-43AB-8588-CEC1D06C72B9}</a:tableStyleId>
              </a:tblPr>
              <a:tblGrid>
                <a:gridCol w="1682443">
                  <a:extLst>
                    <a:ext uri="{9D8B030D-6E8A-4147-A177-3AD203B41FA5}">
                      <a16:colId xmlns:a16="http://schemas.microsoft.com/office/drawing/2014/main" val="1884596943"/>
                    </a:ext>
                  </a:extLst>
                </a:gridCol>
                <a:gridCol w="2874326">
                  <a:extLst>
                    <a:ext uri="{9D8B030D-6E8A-4147-A177-3AD203B41FA5}">
                      <a16:colId xmlns:a16="http://schemas.microsoft.com/office/drawing/2014/main" val="1864181847"/>
                    </a:ext>
                  </a:extLst>
                </a:gridCol>
                <a:gridCol w="2593328">
                  <a:extLst>
                    <a:ext uri="{9D8B030D-6E8A-4147-A177-3AD203B41FA5}">
                      <a16:colId xmlns:a16="http://schemas.microsoft.com/office/drawing/2014/main" val="2273539351"/>
                    </a:ext>
                  </a:extLst>
                </a:gridCol>
              </a:tblGrid>
              <a:tr h="522303">
                <a:tc>
                  <a:txBody>
                    <a:bodyPr/>
                    <a:lstStyle/>
                    <a:p>
                      <a:endParaRPr lang="en-PH" sz="1800" b="1" cap="none" spc="0" dirty="0">
                        <a:solidFill>
                          <a:schemeClr val="bg1"/>
                        </a:solidFill>
                        <a:latin typeface="Tenorite" panose="00000500000000000000" pitchFamily="2" charset="0"/>
                      </a:endParaRPr>
                    </a:p>
                  </a:txBody>
                  <a:tcPr marL="69050" marR="98643" marT="19729" marB="147964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800" b="1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DT Classifier</a:t>
                      </a:r>
                    </a:p>
                  </a:txBody>
                  <a:tcPr marL="69050" marR="98643" marT="19729" marB="14796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800" b="1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DT Regressor</a:t>
                      </a:r>
                    </a:p>
                  </a:txBody>
                  <a:tcPr marL="69050" marR="98643" marT="19729" marB="14796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202853"/>
                  </a:ext>
                </a:extLst>
              </a:tr>
              <a:tr h="837757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Prediction Output</a:t>
                      </a:r>
                    </a:p>
                  </a:txBody>
                  <a:tcPr marL="69050" marR="98643" marT="19729" marB="147964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Categories or Classes</a:t>
                      </a:r>
                    </a:p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Leaf nodes contain class labels</a:t>
                      </a:r>
                    </a:p>
                  </a:txBody>
                  <a:tcPr marL="69050" marR="98643" marT="19729" marB="1479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PH" sz="1400" cap="none" spc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Continuous numbers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PH" sz="1400" cap="none" spc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Leaf nodes contain numeric values</a:t>
                      </a:r>
                    </a:p>
                  </a:txBody>
                  <a:tcPr marL="69050" marR="98643" marT="19729" marB="1479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024"/>
                  </a:ext>
                </a:extLst>
              </a:tr>
              <a:tr h="1046512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Evaluation Metrics</a:t>
                      </a:r>
                    </a:p>
                  </a:txBody>
                  <a:tcPr marL="69050" marR="98643" marT="19729" marB="147964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Accuracy: % of correct predictions</a:t>
                      </a:r>
                    </a:p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F1 score</a:t>
                      </a:r>
                    </a:p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ROC-AUC</a:t>
                      </a:r>
                    </a:p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Confusion matrix</a:t>
                      </a:r>
                    </a:p>
                  </a:txBody>
                  <a:tcPr marL="69050" marR="98643" marT="19729" marB="1479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R</a:t>
                      </a:r>
                      <a:r>
                        <a:rPr lang="en-PH" sz="1400" cap="none" spc="0" baseline="3000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2 </a:t>
                      </a:r>
                      <a:r>
                        <a:rPr lang="en-PH" sz="1400" cap="none" spc="0" baseline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score</a:t>
                      </a:r>
                    </a:p>
                    <a:p>
                      <a:r>
                        <a:rPr lang="en-PH" sz="1400" cap="none" spc="0" baseline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Mean &amp; Root Mean Squared Error (MSE/RMSE)</a:t>
                      </a:r>
                    </a:p>
                    <a:p>
                      <a:r>
                        <a:rPr lang="en-PH" sz="1400" cap="none" spc="0" baseline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Mean Absolute Error (MAE)</a:t>
                      </a:r>
                    </a:p>
                  </a:txBody>
                  <a:tcPr marL="69050" marR="98643" marT="19729" marB="1479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891006"/>
                  </a:ext>
                </a:extLst>
              </a:tr>
              <a:tr h="854213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Impurity Handling</a:t>
                      </a:r>
                    </a:p>
                  </a:txBody>
                  <a:tcPr marL="69050" marR="98643" marT="19729" marB="147964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Pure vs Impure Nodes</a:t>
                      </a:r>
                    </a:p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Splitting aims for pure nodes</a:t>
                      </a:r>
                      <a:endParaRPr lang="en-PH" sz="1400" cap="none" spc="0" dirty="0">
                        <a:solidFill>
                          <a:schemeClr val="bg1"/>
                        </a:solidFill>
                        <a:latin typeface="Tenorite" panose="00000500000000000000" pitchFamily="2" charset="0"/>
                      </a:endParaRPr>
                    </a:p>
                  </a:txBody>
                  <a:tcPr marL="69050" marR="98643" marT="19729" marB="1479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Low vs High Variance Nodes</a:t>
                      </a:r>
                    </a:p>
                    <a:p>
                      <a:r>
                        <a:rPr lang="en-US" sz="1400" cap="none" spc="0" dirty="0">
                          <a:solidFill>
                            <a:schemeClr val="bg1"/>
                          </a:solidFill>
                          <a:latin typeface="Tenorite" panose="00000500000000000000" pitchFamily="2" charset="0"/>
                        </a:rPr>
                        <a:t>- Splitting aims for low variance nodes</a:t>
                      </a:r>
                      <a:endParaRPr lang="en-PH" sz="1400" cap="none" spc="0" dirty="0">
                        <a:solidFill>
                          <a:schemeClr val="bg1"/>
                        </a:solidFill>
                        <a:latin typeface="Tenorite" panose="00000500000000000000" pitchFamily="2" charset="0"/>
                      </a:endParaRPr>
                    </a:p>
                  </a:txBody>
                  <a:tcPr marL="69050" marR="98643" marT="19729" marB="14796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25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69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32CBF-72E9-0A48-7A92-3BBED089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1272396"/>
            <a:ext cx="2639962" cy="4600575"/>
          </a:xfrm>
        </p:spPr>
        <p:txBody>
          <a:bodyPr>
            <a:normAutofit/>
          </a:bodyPr>
          <a:lstStyle/>
          <a:p>
            <a:r>
              <a:rPr lang="en-PH" sz="2800" dirty="0">
                <a:solidFill>
                  <a:srgbClr val="FFFFFF"/>
                </a:solidFill>
              </a:rPr>
              <a:t>Key</a:t>
            </a:r>
            <a:r>
              <a:rPr lang="en-PH" sz="2500" dirty="0">
                <a:solidFill>
                  <a:srgbClr val="FFFFFF"/>
                </a:solidFill>
              </a:rPr>
              <a:t> Hyperparameters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3A3128-8DB0-9AAE-ADC3-49F2E17B7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832219"/>
              </p:ext>
            </p:extLst>
          </p:nvPr>
        </p:nvGraphicFramePr>
        <p:xfrm>
          <a:off x="4739280" y="1919679"/>
          <a:ext cx="6505744" cy="3622368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{073A0DAA-6AF3-43AB-8588-CEC1D06C72B9}</a:tableStyleId>
              </a:tblPr>
              <a:tblGrid>
                <a:gridCol w="2248116">
                  <a:extLst>
                    <a:ext uri="{9D8B030D-6E8A-4147-A177-3AD203B41FA5}">
                      <a16:colId xmlns:a16="http://schemas.microsoft.com/office/drawing/2014/main" val="2864253462"/>
                    </a:ext>
                  </a:extLst>
                </a:gridCol>
                <a:gridCol w="4257628">
                  <a:extLst>
                    <a:ext uri="{9D8B030D-6E8A-4147-A177-3AD203B41FA5}">
                      <a16:colId xmlns:a16="http://schemas.microsoft.com/office/drawing/2014/main" val="2645920540"/>
                    </a:ext>
                  </a:extLst>
                </a:gridCol>
              </a:tblGrid>
              <a:tr h="602827">
                <a:tc>
                  <a:txBody>
                    <a:bodyPr/>
                    <a:lstStyle/>
                    <a:p>
                      <a:r>
                        <a:rPr lang="en-PH" sz="1400" b="1" cap="none" spc="0" dirty="0">
                          <a:solidFill>
                            <a:schemeClr val="bg1"/>
                          </a:solidFill>
                        </a:rPr>
                        <a:t>Parameter</a:t>
                      </a:r>
                    </a:p>
                  </a:txBody>
                  <a:tcPr marL="160740" marR="229628" marT="45926" marB="344442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b="1" cap="none" spc="0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160740" marR="229628" marT="45926" marB="3444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38572"/>
                  </a:ext>
                </a:extLst>
              </a:tr>
              <a:tr h="602827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  <a:r>
                        <a:rPr lang="en-PH" sz="1400" cap="none" spc="0" dirty="0" err="1">
                          <a:solidFill>
                            <a:schemeClr val="bg1"/>
                          </a:solidFill>
                        </a:rPr>
                        <a:t>max_depth</a:t>
                      </a:r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How deep the tree can grow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097183"/>
                  </a:ext>
                </a:extLst>
              </a:tr>
              <a:tr h="602827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  <a:r>
                        <a:rPr lang="en-PH" sz="1400" cap="none" spc="0" dirty="0" err="1">
                          <a:solidFill>
                            <a:schemeClr val="bg1"/>
                          </a:solidFill>
                        </a:rPr>
                        <a:t>min_samples_split</a:t>
                      </a:r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Minimum samples needed to split a node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327558"/>
                  </a:ext>
                </a:extLst>
              </a:tr>
              <a:tr h="602827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  <a:r>
                        <a:rPr lang="en-PH" sz="1400" cap="none" spc="0" dirty="0" err="1">
                          <a:solidFill>
                            <a:schemeClr val="bg1"/>
                          </a:solidFill>
                        </a:rPr>
                        <a:t>min_samples_leaf</a:t>
                      </a:r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Minimum samples in a leaf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909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  <a:r>
                        <a:rPr lang="en-PH" sz="1400" cap="none" spc="0" dirty="0" err="1">
                          <a:solidFill>
                            <a:schemeClr val="bg1"/>
                          </a:solidFill>
                        </a:rPr>
                        <a:t>max_features</a:t>
                      </a:r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Number of features to consider per split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88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`criterion`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cap="none" spc="0" dirty="0">
                          <a:solidFill>
                            <a:schemeClr val="bg1"/>
                          </a:solidFill>
                        </a:rPr>
                        <a:t>How to measure error (squared error/absolute error)</a:t>
                      </a:r>
                    </a:p>
                  </a:txBody>
                  <a:tcPr marL="160740" marR="229628" marT="45926" marB="3444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56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53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69B76-70C1-7780-2BF5-B4CE46B71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PH" sz="3600"/>
              <a:t>How It Works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69DEF-F899-1837-6470-507FF8BA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 Start with all data as the root</a:t>
            </a:r>
          </a:p>
          <a:p>
            <a:pPr marL="0" indent="0">
              <a:buNone/>
            </a:pPr>
            <a:r>
              <a:rPr lang="en-US" sz="2000" dirty="0"/>
              <a:t>	The model looks at all possible splits across all 	features.</a:t>
            </a:r>
          </a:p>
          <a:p>
            <a:pPr marL="0" indent="0">
              <a:buNone/>
            </a:pPr>
            <a:r>
              <a:rPr lang="en-US" sz="2000" b="1" dirty="0"/>
              <a:t>2. Choose a split that best reduces error</a:t>
            </a:r>
          </a:p>
          <a:p>
            <a:pPr marL="0" indent="0">
              <a:buNone/>
            </a:pPr>
            <a:r>
              <a:rPr lang="en-US" sz="2000" dirty="0"/>
              <a:t>	The most common criterion is:</a:t>
            </a:r>
          </a:p>
          <a:p>
            <a:pPr marL="0" indent="0">
              <a:buNone/>
            </a:pPr>
            <a:r>
              <a:rPr lang="en-US" sz="2000" b="1" dirty="0"/>
              <a:t>		- MSE (Mean Squared Error)</a:t>
            </a:r>
            <a:r>
              <a:rPr lang="en-US" sz="2000" dirty="0"/>
              <a:t> reduction</a:t>
            </a:r>
            <a:br>
              <a:rPr lang="en-US" sz="2000" dirty="0"/>
            </a:br>
            <a:r>
              <a:rPr lang="en-US" sz="2000" dirty="0"/>
              <a:t>	or</a:t>
            </a:r>
          </a:p>
          <a:p>
            <a:pPr marL="0" indent="0">
              <a:buNone/>
            </a:pPr>
            <a:r>
              <a:rPr lang="en-US" sz="2000" b="1" dirty="0"/>
              <a:t>		- MAE (Mean Absolute Error)</a:t>
            </a:r>
            <a:r>
              <a:rPr lang="en-US" sz="2000" dirty="0"/>
              <a:t> reduction</a:t>
            </a:r>
          </a:p>
          <a:p>
            <a:pPr marL="0" indent="0">
              <a:buNone/>
            </a:pPr>
            <a:r>
              <a:rPr lang="en-US" sz="2000" dirty="0"/>
              <a:t>	The goal: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dirty="0"/>
              <a:t>Make target values in each node as similar as 	possible.</a:t>
            </a:r>
          </a:p>
        </p:txBody>
      </p:sp>
    </p:spTree>
    <p:extLst>
      <p:ext uri="{BB962C8B-B14F-4D97-AF65-F5344CB8AC3E}">
        <p14:creationId xmlns:p14="http://schemas.microsoft.com/office/powerpoint/2010/main" val="3401299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C84C3-4997-773E-CB08-30FF11C9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22655E-D101-FB74-0011-2E09DB1B4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00826F-31C2-BF0E-E4EE-C7CC5AC47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B7565D2-3587-CEB3-3190-EC16F03DA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8A7E0B0-6E7F-2499-7AA3-D8B852C68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5FB64BF-3A41-6737-6B0C-895EEE07E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C3BA52F-D8BC-18B5-1265-15D68BA51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4A22B3A-3385-6D32-E786-EA85F878C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C182EC2-D1BC-7329-EC12-E18C0566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92F02A-8BE2-299D-14D7-791D90AC5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69E1E-7BB0-16B9-E9BE-9C3E7732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PH" sz="3600"/>
              <a:t>How It Works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A8F0D7-D1F5-F7DF-EFC7-351CE2124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A5F76-9086-0DB6-1BC4-808F56DAE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3. Recursively split nodes</a:t>
            </a:r>
          </a:p>
          <a:p>
            <a:pPr marL="0" indent="0">
              <a:buNone/>
            </a:pPr>
            <a:r>
              <a:rPr lang="en-US" sz="2000" dirty="0"/>
              <a:t>	Repeat the process for each child node.</a:t>
            </a:r>
          </a:p>
          <a:p>
            <a:pPr marL="0" indent="0">
              <a:buNone/>
            </a:pPr>
            <a:r>
              <a:rPr lang="en-US" sz="2000" b="1" dirty="0"/>
              <a:t>4. Stop based on constraints</a:t>
            </a:r>
          </a:p>
          <a:p>
            <a:pPr marL="0" indent="0">
              <a:buNone/>
            </a:pPr>
            <a:r>
              <a:rPr lang="en-US" sz="2000" dirty="0"/>
              <a:t>	The model stops splitting when:</a:t>
            </a:r>
          </a:p>
          <a:p>
            <a:pPr marL="0" indent="0">
              <a:buNone/>
            </a:pPr>
            <a:r>
              <a:rPr lang="en-US" sz="2000" dirty="0"/>
              <a:t>		- Maximum depth is reached</a:t>
            </a:r>
          </a:p>
          <a:p>
            <a:pPr marL="0" indent="0">
              <a:buNone/>
            </a:pPr>
            <a:r>
              <a:rPr lang="en-US" sz="2000" dirty="0"/>
              <a:t>		- Minimum samples per split/leaf is reached</a:t>
            </a:r>
          </a:p>
          <a:p>
            <a:pPr marL="0" indent="0">
              <a:buNone/>
            </a:pPr>
            <a:r>
              <a:rPr lang="en-US" sz="2000" dirty="0"/>
              <a:t>		- No further improvement can be made</a:t>
            </a:r>
          </a:p>
          <a:p>
            <a:pPr marL="0" indent="0">
              <a:buNone/>
            </a:pPr>
            <a:r>
              <a:rPr lang="en-US" sz="2000" b="1" dirty="0"/>
              <a:t>5. Predict using leaves</a:t>
            </a:r>
          </a:p>
          <a:p>
            <a:pPr marL="0" indent="0">
              <a:buNone/>
            </a:pPr>
            <a:r>
              <a:rPr lang="en-US" sz="2000" dirty="0"/>
              <a:t>	To make a prediction:</a:t>
            </a:r>
          </a:p>
          <a:p>
            <a:pPr marL="0" indent="0">
              <a:buNone/>
            </a:pPr>
            <a:r>
              <a:rPr lang="en-US" sz="2000" dirty="0"/>
              <a:t>		- Pass a new sample down the tree</a:t>
            </a:r>
          </a:p>
          <a:p>
            <a:pPr marL="0" indent="0">
              <a:buNone/>
            </a:pPr>
            <a:r>
              <a:rPr lang="en-US" sz="2000" dirty="0"/>
              <a:t>		- Final output = mean of samples in the leaf</a:t>
            </a:r>
          </a:p>
        </p:txBody>
      </p:sp>
    </p:spTree>
    <p:extLst>
      <p:ext uri="{BB962C8B-B14F-4D97-AF65-F5344CB8AC3E}">
        <p14:creationId xmlns:p14="http://schemas.microsoft.com/office/powerpoint/2010/main" val="3295283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A70644-B3C3-E194-7589-B6970AAE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PH" sz="3600" dirty="0">
                <a:latin typeface="Tenorite" panose="00000500000000000000" pitchFamily="2" charset="0"/>
              </a:rPr>
              <a:t>Advantages &amp; Disadvantages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41E2E-59A1-BBD0-DA7B-58D66CAD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latin typeface="Tenorite" panose="00000500000000000000" pitchFamily="2" charset="0"/>
              </a:rPr>
              <a:t>Advantages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Interpretability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Handles Non-Linear Relationships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Does not require feature scaling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Can handle mixed data types</a:t>
            </a:r>
          </a:p>
        </p:txBody>
      </p:sp>
    </p:spTree>
    <p:extLst>
      <p:ext uri="{BB962C8B-B14F-4D97-AF65-F5344CB8AC3E}">
        <p14:creationId xmlns:p14="http://schemas.microsoft.com/office/powerpoint/2010/main" val="484926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81D9C-BD6C-3453-FD1B-C2524ED8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307DD7-7905-A682-BE0F-5F95D68DF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95C008-7577-CD20-8850-ABDF75968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AC97E46-A887-0DBF-1E0F-78D957CA2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2BE94B75-A257-40D3-C184-5E89416FE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E20887A-E4CA-6CDB-C3EC-D0E5D50F1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3D1809EB-10BE-5510-F3DF-A8009EC5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1DD1EE3D-C7F7-AA6B-8852-53DB010C8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CA5C9B2A-06BD-A4ED-EC01-F85D41F1C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00C0D4-C605-4ECA-E936-38AAE54F2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06F0D4-8684-6DBE-6DBC-B960C721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PH" sz="3600" dirty="0">
                <a:latin typeface="Tenorite" panose="00000500000000000000" pitchFamily="2" charset="0"/>
              </a:rPr>
              <a:t>Advantages &amp; Disadvantages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5FF6D-6D36-16D4-E142-508BBFD7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17AA3-289B-B7F0-80BA-4ED1C31CA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latin typeface="Tenorite" panose="00000500000000000000" pitchFamily="2" charset="0"/>
              </a:rPr>
              <a:t>Disadvantages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Overfitting tendency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Unstable (High Variance)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Struggles with linear relationships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PH" sz="1800" dirty="0">
                <a:latin typeface="Tenorite" panose="00000500000000000000" pitchFamily="2" charset="0"/>
              </a:rPr>
              <a:t>Poor extrapolation</a:t>
            </a:r>
          </a:p>
        </p:txBody>
      </p:sp>
    </p:spTree>
    <p:extLst>
      <p:ext uri="{BB962C8B-B14F-4D97-AF65-F5344CB8AC3E}">
        <p14:creationId xmlns:p14="http://schemas.microsoft.com/office/powerpoint/2010/main" val="1563805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1177C-82D8-E21B-796E-580D2E6A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PH" sz="3600"/>
              <a:t>When to Use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DCFB-9F53-A848-CB38-87A9183B4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r>
              <a:rPr lang="en-PH" sz="2000" dirty="0"/>
              <a:t>Relationships in data are non-linear</a:t>
            </a:r>
          </a:p>
          <a:p>
            <a:r>
              <a:rPr lang="en-PH" sz="2000" dirty="0"/>
              <a:t>Features are a mix of numeric and categorical</a:t>
            </a:r>
          </a:p>
          <a:p>
            <a:r>
              <a:rPr lang="en-PH" sz="2000" dirty="0"/>
              <a:t>Want an interpretable model</a:t>
            </a:r>
          </a:p>
          <a:p>
            <a:r>
              <a:rPr lang="en-PH" sz="2000" dirty="0"/>
              <a:t>Plan to build an ensemble in the future </a:t>
            </a:r>
          </a:p>
          <a:p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814206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 design</Template>
  <TotalTime>2065</TotalTime>
  <Words>483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Tenorite</vt:lpstr>
      <vt:lpstr>Parallax</vt:lpstr>
      <vt:lpstr>Decision Tree Regressor</vt:lpstr>
      <vt:lpstr>Overview</vt:lpstr>
      <vt:lpstr>Difference vs. DT Classifiers </vt:lpstr>
      <vt:lpstr>Key Hyperparameters</vt:lpstr>
      <vt:lpstr>How It Works</vt:lpstr>
      <vt:lpstr>How It Works</vt:lpstr>
      <vt:lpstr>Advantages &amp; Disadvantages</vt:lpstr>
      <vt:lpstr>Advantages &amp; Disadvantages</vt:lpstr>
      <vt:lpstr>When to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 Jevy Tapdasan</dc:creator>
  <cp:lastModifiedBy>Vince Jevy Tapdasan</cp:lastModifiedBy>
  <cp:revision>10</cp:revision>
  <dcterms:created xsi:type="dcterms:W3CDTF">2025-11-27T06:56:56Z</dcterms:created>
  <dcterms:modified xsi:type="dcterms:W3CDTF">2025-11-30T08:46:27Z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